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Transformational Automation Roadmap</a:t>
            </a:r>
          </a:p>
          <a:p>
            <a:r>
              <a:t>Tumkur Manufacturing Facility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Phased Automation for Performance, Scalability &amp; Future Readiness</a:t>
            </a:r>
          </a:p>
          <a:p>
            <a:endParaRPr/>
          </a:p>
          <a:p>
            <a:r>
              <a:t>(Confidential – Strategy &amp; Investment Discussion)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the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current operational realities</a:t>
            </a:r>
          </a:p>
          <a:p>
            <a:r>
              <a:t>• Identify automation &amp; digitisation opportunities</a:t>
            </a:r>
          </a:p>
          <a:p>
            <a:r>
              <a:t>• Build a phased, risk-mitigated transformation roadmap</a:t>
            </a:r>
          </a:p>
          <a:p>
            <a:r>
              <a:t>• Align automation with future expansion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manual dependency beyond primary machines</a:t>
            </a:r>
          </a:p>
          <a:p>
            <a:r>
              <a:t>• Congested layouts impacting productivity &amp; safety</a:t>
            </a:r>
          </a:p>
          <a:p>
            <a:r>
              <a:t>• Multiple low-hanging automation opportunities</a:t>
            </a:r>
          </a:p>
          <a:p>
            <a:r>
              <a:t>• Expansion plans enable clean transformation</a:t>
            </a:r>
          </a:p>
          <a:p>
            <a:r>
              <a:t>• Strong potential for phased ROI-driven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– Shopfloor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Extensive manual handling in post-filling operations</a:t>
            </a:r>
          </a:p>
          <a:p>
            <a:r>
              <a:t>• Repetitive tasks consuming high manpower</a:t>
            </a:r>
          </a:p>
          <a:p>
            <a:r>
              <a:t>• Congested workspaces &amp; mixed material flow</a:t>
            </a:r>
          </a:p>
          <a:p>
            <a:endParaRPr/>
          </a:p>
          <a:p>
            <a:r>
              <a:t>[PHOTO PLACEHOLDER]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Effort Beyond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Filling automated, downstream still manual</a:t>
            </a:r>
          </a:p>
          <a:p>
            <a:r>
              <a:t>• Sorting, bundling, case packing &amp; palletizing</a:t>
            </a:r>
          </a:p>
          <a:p>
            <a:r>
              <a:t>• Low value-added tasks consuming manpower</a:t>
            </a:r>
          </a:p>
          <a:p>
            <a:endParaRPr/>
          </a:p>
          <a:p>
            <a:r>
              <a:t>[PHOTO PLACEHOLDER]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Transformation is Required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Rising manpower cost &amp; availability challenges</a:t>
            </a:r>
          </a:p>
          <a:p>
            <a:r>
              <a:t>• Hygiene, consistency &amp; brand protection</a:t>
            </a:r>
          </a:p>
          <a:p>
            <a:r>
              <a:t>• Scalability for future volumes &amp; SKUs</a:t>
            </a:r>
          </a:p>
          <a:p>
            <a:r>
              <a:t>• New packing hall enables layout-led automation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Opportunity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Soap lines – End of line</a:t>
            </a:r>
          </a:p>
          <a:p>
            <a:r>
              <a:t>• Manual repacking &amp; bundling</a:t>
            </a:r>
          </a:p>
          <a:p>
            <a:r>
              <a:t>• Liquid mixing &amp; batch preparation</a:t>
            </a:r>
          </a:p>
          <a:p>
            <a:r>
              <a:t>• Sachet secondary packing</a:t>
            </a:r>
          </a:p>
          <a:p>
            <a:r>
              <a:t>• Bottle filling downstream</a:t>
            </a:r>
          </a:p>
          <a:p>
            <a:r>
              <a:t>• Intralogistics &amp; material movement</a:t>
            </a:r>
          </a:p>
          <a:p>
            <a:endParaRPr/>
          </a:p>
          <a:p>
            <a:r>
              <a:t>[PHOTO PLACEHOLDER]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– Low Hanging Fruits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Impact | Low Risk | Fast ROI</a:t>
            </a:r>
          </a:p>
          <a:p>
            <a:endParaRPr/>
          </a:p>
          <a:p>
            <a:r>
              <a:t>• Automated bundling</a:t>
            </a:r>
          </a:p>
          <a:p>
            <a:r>
              <a:t>• Case erection &amp; packing</a:t>
            </a:r>
          </a:p>
          <a:p>
            <a:r>
              <a:t>• Palletizing</a:t>
            </a:r>
          </a:p>
          <a:p>
            <a:r>
              <a:t>• Digitised liquid mixing</a:t>
            </a:r>
          </a:p>
          <a:p>
            <a:endParaRPr/>
          </a:p>
          <a:p>
            <a:r>
              <a:t>[PHOTO PLACEHOLDER]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Structured Line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Bottle unscramblers</a:t>
            </a:r>
          </a:p>
          <a:p>
            <a:r>
              <a:t>• Pump feeding &amp; tightening</a:t>
            </a:r>
          </a:p>
          <a:p>
            <a:r>
              <a:t>• Inline labelling</a:t>
            </a:r>
          </a:p>
          <a:p>
            <a:r>
              <a:t>• Layout optimisation in new hall</a:t>
            </a:r>
          </a:p>
          <a:p>
            <a:endParaRPr/>
          </a:p>
          <a:p>
            <a:r>
              <a:t>[PHOTO PLACEHOLDER]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Centralisation &amp; Flow Optimisation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Centralised case handling</a:t>
            </a:r>
          </a:p>
          <a:p>
            <a:r>
              <a:t>• Centralised palletisation</a:t>
            </a:r>
          </a:p>
          <a:p>
            <a:r>
              <a:t>• Structured WIP &amp; FG zones</a:t>
            </a:r>
          </a:p>
          <a:p>
            <a:r>
              <a:t>• Reduced forklift &amp; manual movement</a:t>
            </a:r>
          </a:p>
          <a:p>
            <a:endParaRPr/>
          </a:p>
          <a:p>
            <a:r>
              <a:t>[PHOTO PLACEHOLDER]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– Digital &amp; Smart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 SCADA for liquid processing</a:t>
            </a:r>
          </a:p>
          <a:p>
            <a:r>
              <a:t>• Recipe &amp; batch traceability</a:t>
            </a:r>
          </a:p>
          <a:p>
            <a:r>
              <a:t>• Data-driven decisions</a:t>
            </a:r>
          </a:p>
          <a:p>
            <a:r>
              <a:t>• AGV readiness</a:t>
            </a:r>
          </a:p>
          <a:p>
            <a:endParaRPr/>
          </a:p>
          <a:p>
            <a:r>
              <a:t>[PHOTO PLACEHOLDER]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Optimisation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Soap bar drying &amp; storage optimisation</a:t>
            </a:r>
          </a:p>
          <a:p>
            <a:r>
              <a:t>• Vertical storage concepts</a:t>
            </a:r>
          </a:p>
          <a:p>
            <a:r>
              <a:t>• Reduced cooling time (subject to study)</a:t>
            </a:r>
          </a:p>
          <a:p>
            <a:endParaRPr/>
          </a:p>
          <a:p>
            <a:r>
              <a:t>[PHOTO PLACEHOLDER]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manpower dependency</a:t>
            </a:r>
          </a:p>
          <a:p>
            <a:r>
              <a:t>• Improved consistency &amp; quality</a:t>
            </a:r>
          </a:p>
          <a:p>
            <a:r>
              <a:t>• Better space utilisation</a:t>
            </a:r>
          </a:p>
          <a:p>
            <a:r>
              <a:t>• Safer, cleaner operations</a:t>
            </a:r>
          </a:p>
          <a:p>
            <a:r>
              <a:t>• Scalable future-ready infrastructure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 Through Phased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big-bang automation</a:t>
            </a:r>
          </a:p>
          <a:p>
            <a:r>
              <a:t>• Standardisation before mechanisation</a:t>
            </a:r>
          </a:p>
          <a:p>
            <a:r>
              <a:t>• Pilot → Scale methodology</a:t>
            </a:r>
          </a:p>
          <a:p>
            <a:r>
              <a:t>• Minimal disruption to production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V-Align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Independent &amp; OEM-neutral approach</a:t>
            </a:r>
          </a:p>
          <a:p>
            <a:r>
              <a:t>• Deep FMCG automation expertise</a:t>
            </a:r>
          </a:p>
          <a:p>
            <a:r>
              <a:t>• End-to-end ownership from study to execution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Joint standardisation workshops</a:t>
            </a:r>
          </a:p>
          <a:p>
            <a:r>
              <a:t>• Freeze master layout</a:t>
            </a:r>
          </a:p>
          <a:p>
            <a:r>
              <a:t>• Phase-1 techno-commercial proposal</a:t>
            </a:r>
          </a:p>
          <a:p>
            <a:r>
              <a:t>• Pilot implementation &amp; scale-up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449</Words>
  <Application>Microsoft Office PowerPoint</Application>
  <PresentationFormat>On-screen Show (4:3)</PresentationFormat>
  <Paragraphs>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Transformational Automation Roadmap Tumkur Manufacturing Facility</vt:lpstr>
      <vt:lpstr>Objective of the Assessment</vt:lpstr>
      <vt:lpstr>Executive Snapshot</vt:lpstr>
      <vt:lpstr>Current State – Shopfloor Reality</vt:lpstr>
      <vt:lpstr>Manual Effort Beyond Automation</vt:lpstr>
      <vt:lpstr>Why Transformation is Required Now</vt:lpstr>
      <vt:lpstr>Automation Opportunity Landscape</vt:lpstr>
      <vt:lpstr>Phase 1 – Low Hanging Fruits</vt:lpstr>
      <vt:lpstr>Phase 2 – Structured Line Automation</vt:lpstr>
      <vt:lpstr>Phase 3 – Centralisation &amp; Flow Optimisation</vt:lpstr>
      <vt:lpstr>Phase 4 – Digital &amp; Smart Factory</vt:lpstr>
      <vt:lpstr>Additional Optimisation Opportunities</vt:lpstr>
      <vt:lpstr>Business Impact</vt:lpstr>
      <vt:lpstr>Risk Mitigation Through Phased Approach</vt:lpstr>
      <vt:lpstr>Why V-Align Automation</vt:lpstr>
      <vt:lpstr>Proposed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Puranik</dc:creator>
  <cp:keywords/>
  <dc:description>generated using python-pptx</dc:description>
  <cp:lastModifiedBy>Vishnu Puranik</cp:lastModifiedBy>
  <cp:revision>1</cp:revision>
  <dcterms:created xsi:type="dcterms:W3CDTF">2013-01-27T09:14:16Z</dcterms:created>
  <dcterms:modified xsi:type="dcterms:W3CDTF">2025-12-28T13:17:21Z</dcterms:modified>
  <cp:category/>
</cp:coreProperties>
</file>